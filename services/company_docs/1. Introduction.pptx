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 G L" userId="b66c09de-e053-4e76-988d-51098ac24749" providerId="ADAL" clId="{4D6FB913-193B-4005-8BA7-2E48C396395A}"/>
    <pc:docChg chg="undo redo custSel addSld delSld modSld">
      <pc:chgData name="PRIYA G L" userId="b66c09de-e053-4e76-988d-51098ac24749" providerId="ADAL" clId="{4D6FB913-193B-4005-8BA7-2E48C396395A}" dt="2026-01-07T01:53:19.115" v="4668" actId="2696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FBC1-E303-BDB9-BEE2-73F671BF6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067D9-8D10-D31D-D296-D7991CC5D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33AE4-91E8-680A-1D6C-327E3B45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46DC-4D11-451B-804A-960BBB18D4B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56563-4EA7-8400-2EEB-56F5F314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5C974-8884-7B26-29A8-B586D108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3279-1CB5-444F-B36C-3D53C7382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274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82A9D-E8EB-B166-F9E9-9935CE086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9012B-9011-3318-0914-D9A5BDE9C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5F7D6-5664-EC6C-8611-8DCDD148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46DC-4D11-451B-804A-960BBB18D4B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8D069-762C-77C3-1939-E706E1B67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2FD4A-47C3-5B0F-04D1-FC9E4A03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3279-1CB5-444F-B36C-3D53C7382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86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8D42D-83B7-558B-3109-BE0231F4C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DADC0-7FC9-44F8-5CEA-C7F9284CE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D7F65-4E2D-35F9-EE2C-B60EC51C5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46DC-4D11-451B-804A-960BBB18D4B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DC803-3E30-C224-BAE7-0F7D5EBC0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4B6CB-A398-36C4-0DD5-6152A075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3279-1CB5-444F-B36C-3D53C7382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514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DB9FD-D7F8-AA58-4C58-6CC61DF7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8FF6F-954C-44AA-3811-3E66CD1B1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BCD01-2071-7F61-BD7C-1E6CEE476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D386D-9A5C-ED63-FF73-EECEE8ED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46DC-4D11-451B-804A-960BBB18D4B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77672-008F-7FDE-0E3B-5045D9FD6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53FD4-B81D-FD15-DF85-5C258A646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3279-1CB5-444F-B36C-3D53C7382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537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6A960-AB37-273C-08B9-6148767B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6D382-DA18-95C5-1697-7BF4FA9C2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A2A49-A64F-B91B-9D0C-31C527D6F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267CEA-7987-4E7A-2F42-97D3FFC1D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510F3A-0969-BBC7-7CDF-734BEB4D0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412B7D-5602-C385-AA09-240615AD6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46DC-4D11-451B-804A-960BBB18D4B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D03A6F-50F5-DDC3-5D56-84F1F8F2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12217-4863-98C3-3C95-4D6F57CB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3279-1CB5-444F-B36C-3D53C7382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465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97AC-3DC1-D69B-C582-1CA8DC1C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8C52C-B901-2A6E-2839-8967EAC38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46DC-4D11-451B-804A-960BBB18D4B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E03BB-3935-7ACB-1611-53769212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B9EA2-BF99-AA70-6D3B-22908F89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3279-1CB5-444F-B36C-3D53C7382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03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38A42B-7B56-01D7-A738-47BF1573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46DC-4D11-451B-804A-960BBB18D4B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B3660-3D46-0B5F-51F0-591FF53C4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9EDCB-6A0C-4C9C-6EEE-AA17CF94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3279-1CB5-444F-B36C-3D53C7382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30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EF3D2-D925-5D60-4DA0-BFF3FE34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83073-6A70-80D2-2404-F9B548500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702BF-E228-A95B-D294-4C791440A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22275-458B-ED21-A085-A23722772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46DC-4D11-451B-804A-960BBB18D4B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FACA5-C3B7-A28D-77DB-ACC6E640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E7AFF-B58A-6B08-8857-9F0A6B03B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3279-1CB5-444F-B36C-3D53C7382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41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4ED9F-907E-A576-4521-6BCDD9FED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F9149-6102-A3EE-ED9F-F10E68BFA7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179B8-319C-CBD1-24E3-BBD7ACF33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C65B9-AF4B-4B04-1D62-4000F8BA1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46DC-4D11-451B-804A-960BBB18D4B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188EE-76B8-F8DD-8D37-BC858D277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5BBB6-7010-96FA-7CA2-4B140752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3279-1CB5-444F-B36C-3D53C7382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074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442D-84DB-86C6-43C3-D9D737043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2FA77-4753-CB87-A996-3CA7868C6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8B48C-EBD4-5737-94C7-0A858940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46DC-4D11-451B-804A-960BBB18D4B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899D5-7C97-3F6C-A698-138ABBD18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E50F3-1624-2ED4-FC77-0D0711CDD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3279-1CB5-444F-B36C-3D53C7382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11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358A2F-46D2-1049-E771-A7E7AC095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A218B-4127-A1AE-8CA5-DBA6559D5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4A02D-4701-087C-37DE-26555F60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846DC-4D11-451B-804A-960BBB18D4B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E674F-A71D-AD61-743D-06058C42F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11D5F-3F03-2CD3-6229-6ADED183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3279-1CB5-444F-B36C-3D53C7382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306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4;p13">
            <a:extLst>
              <a:ext uri="{FF2B5EF4-FFF2-40B4-BE49-F238E27FC236}">
                <a16:creationId xmlns:a16="http://schemas.microsoft.com/office/drawing/2014/main" id="{86D26913-F960-4A22-86DE-26274AE3F540}"/>
              </a:ext>
            </a:extLst>
          </p:cNvPr>
          <p:cNvSpPr/>
          <p:nvPr userDrawn="1"/>
        </p:nvSpPr>
        <p:spPr>
          <a:xfrm>
            <a:off x="357900" y="569000"/>
            <a:ext cx="11476200" cy="1368300"/>
          </a:xfrm>
          <a:prstGeom prst="roundRect">
            <a:avLst>
              <a:gd name="adj" fmla="val 9040"/>
            </a:avLst>
          </a:prstGeom>
          <a:solidFill>
            <a:srgbClr val="335295"/>
          </a:solidFill>
          <a:ln>
            <a:noFill/>
          </a:ln>
          <a:effectLst>
            <a:outerShdw blurRad="57150" dist="114300" dir="27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6;p13">
            <a:extLst>
              <a:ext uri="{FF2B5EF4-FFF2-40B4-BE49-F238E27FC236}">
                <a16:creationId xmlns:a16="http://schemas.microsoft.com/office/drawing/2014/main" id="{098C0B80-F99D-470B-9FDD-4D592A4D3B83}"/>
              </a:ext>
            </a:extLst>
          </p:cNvPr>
          <p:cNvSpPr txBox="1"/>
          <p:nvPr userDrawn="1"/>
        </p:nvSpPr>
        <p:spPr>
          <a:xfrm>
            <a:off x="492034" y="718403"/>
            <a:ext cx="11207931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 </a:t>
            </a:r>
            <a:endParaRPr sz="2200" dirty="0">
              <a:solidFill>
                <a:srgbClr val="FFFFFF"/>
              </a:solidFill>
            </a:endParaRPr>
          </a:p>
        </p:txBody>
      </p:sp>
      <p:pic>
        <p:nvPicPr>
          <p:cNvPr id="11" name="Google Shape;55;p13">
            <a:extLst>
              <a:ext uri="{FF2B5EF4-FFF2-40B4-BE49-F238E27FC236}">
                <a16:creationId xmlns:a16="http://schemas.microsoft.com/office/drawing/2014/main" id="{873C1C94-609F-4385-B415-448B95C211F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7900" y="5905897"/>
            <a:ext cx="11476199" cy="766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3563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030C6-AA40-41A1-B609-4A6625C5B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018903"/>
            <a:ext cx="11364684" cy="467369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Google Shape;64;p14">
            <a:extLst>
              <a:ext uri="{FF2B5EF4-FFF2-40B4-BE49-F238E27FC236}">
                <a16:creationId xmlns:a16="http://schemas.microsoft.com/office/drawing/2014/main" id="{4364185B-C74A-41B8-A4AD-5ECB797475E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389" y="5734595"/>
            <a:ext cx="11364685" cy="8436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3;p14">
            <a:extLst>
              <a:ext uri="{FF2B5EF4-FFF2-40B4-BE49-F238E27FC236}">
                <a16:creationId xmlns:a16="http://schemas.microsoft.com/office/drawing/2014/main" id="{6FF94A92-8A89-4AFB-8DCD-9C8B9FEDD4FB}"/>
              </a:ext>
            </a:extLst>
          </p:cNvPr>
          <p:cNvSpPr/>
          <p:nvPr userDrawn="1"/>
        </p:nvSpPr>
        <p:spPr>
          <a:xfrm>
            <a:off x="74" y="-28226"/>
            <a:ext cx="12191925" cy="800215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2610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3F156E-8BBE-020B-5CC0-1EEF91B3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BA0C8-5EED-85FB-0EB9-E05C61F13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DD871-5634-47B7-21AB-0FFE3F9C4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846DC-4D11-451B-804A-960BBB18D4B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98733-7DD8-B2AF-0FF8-B90899C9C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D6DE7-1B47-77D1-F5BB-12571A274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93279-1CB5-444F-B36C-3D53C7382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20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;p13">
            <a:extLst>
              <a:ext uri="{FF2B5EF4-FFF2-40B4-BE49-F238E27FC236}">
                <a16:creationId xmlns:a16="http://schemas.microsoft.com/office/drawing/2014/main" id="{BAA2AA5E-7E1F-4558-9E76-71338E2106E4}"/>
              </a:ext>
            </a:extLst>
          </p:cNvPr>
          <p:cNvSpPr txBox="1"/>
          <p:nvPr/>
        </p:nvSpPr>
        <p:spPr>
          <a:xfrm>
            <a:off x="3309969" y="4068763"/>
            <a:ext cx="5917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latin typeface="Bell MT" panose="02020503060305020303" pitchFamily="18" charset="0"/>
              </a:rPr>
              <a:t>Department of CSE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latin typeface="Bell MT" panose="02020503060305020303" pitchFamily="18" charset="0"/>
              </a:rPr>
              <a:t> School </a:t>
            </a:r>
            <a:r>
              <a:rPr lang="en-US" sz="2200" dirty="0">
                <a:latin typeface="Bell MT" panose="02020503060305020303" pitchFamily="18" charset="0"/>
              </a:rPr>
              <a:t>of Engineering</a:t>
            </a:r>
            <a:endParaRPr sz="2200" dirty="0">
              <a:latin typeface="Bell MT" panose="02020503060305020303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latin typeface="Bell MT" panose="02020503060305020303" pitchFamily="18" charset="0"/>
              </a:rPr>
              <a:t>Shiv Nadar University Chennai</a:t>
            </a:r>
            <a:endParaRPr sz="2200" dirty="0">
              <a:latin typeface="Bell MT" panose="02020503060305020303" pitchFamily="18" charset="0"/>
            </a:endParaRPr>
          </a:p>
        </p:txBody>
      </p:sp>
      <p:sp>
        <p:nvSpPr>
          <p:cNvPr id="5" name="Google Shape;57;p13">
            <a:extLst>
              <a:ext uri="{FF2B5EF4-FFF2-40B4-BE49-F238E27FC236}">
                <a16:creationId xmlns:a16="http://schemas.microsoft.com/office/drawing/2014/main" id="{72AC51B1-DC0A-42EC-B5C2-9EDEB7C32AE2}"/>
              </a:ext>
            </a:extLst>
          </p:cNvPr>
          <p:cNvSpPr txBox="1"/>
          <p:nvPr/>
        </p:nvSpPr>
        <p:spPr>
          <a:xfrm>
            <a:off x="4513569" y="2465928"/>
            <a:ext cx="35103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3200" dirty="0">
                <a:latin typeface="Bell MT" panose="02020503060305020303" pitchFamily="18" charset="0"/>
              </a:rPr>
              <a:t>INTRODUCTION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sz="3400" dirty="0">
              <a:latin typeface="Bell MT" panose="02020503060305020303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400" dirty="0">
                <a:latin typeface="Bell MT" panose="02020503060305020303" pitchFamily="18" charset="0"/>
              </a:rPr>
              <a:t>Dr. Priya G L</a:t>
            </a:r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BFD0314B-E7BA-4D43-8BFB-161570B9A9CF}"/>
              </a:ext>
            </a:extLst>
          </p:cNvPr>
          <p:cNvSpPr txBox="1"/>
          <p:nvPr/>
        </p:nvSpPr>
        <p:spPr>
          <a:xfrm>
            <a:off x="742562" y="767206"/>
            <a:ext cx="11052313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latin typeface="Bell MT" panose="02020503060305020303" pitchFamily="18" charset="0"/>
              </a:rPr>
              <a:t>IMAGE AND VIDEO PROCESSING</a:t>
            </a:r>
            <a:endParaRPr lang="en-US" sz="36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540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6;p13">
            <a:extLst>
              <a:ext uri="{FF2B5EF4-FFF2-40B4-BE49-F238E27FC236}">
                <a16:creationId xmlns:a16="http://schemas.microsoft.com/office/drawing/2014/main" id="{AF7253A5-0268-4885-AC0B-8F105ED09681}"/>
              </a:ext>
            </a:extLst>
          </p:cNvPr>
          <p:cNvSpPr txBox="1"/>
          <p:nvPr/>
        </p:nvSpPr>
        <p:spPr>
          <a:xfrm>
            <a:off x="406901" y="-44683"/>
            <a:ext cx="11052313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Bell MT" panose="02020503060305020303" pitchFamily="18" charset="0"/>
              </a:rPr>
              <a:t>What is an Image?</a:t>
            </a:r>
            <a:endParaRPr sz="3600" dirty="0">
              <a:solidFill>
                <a:srgbClr val="FFFFFF"/>
              </a:solidFill>
              <a:latin typeface="Bell MT" panose="020205030603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029B65-D613-71A9-2A0A-207C7FC46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504" y="895044"/>
            <a:ext cx="7423616" cy="545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85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6;p13">
            <a:extLst>
              <a:ext uri="{FF2B5EF4-FFF2-40B4-BE49-F238E27FC236}">
                <a16:creationId xmlns:a16="http://schemas.microsoft.com/office/drawing/2014/main" id="{A5D53B08-2698-B99D-45A7-AB83C32B599E}"/>
              </a:ext>
            </a:extLst>
          </p:cNvPr>
          <p:cNvSpPr txBox="1"/>
          <p:nvPr/>
        </p:nvSpPr>
        <p:spPr>
          <a:xfrm>
            <a:off x="406901" y="-44683"/>
            <a:ext cx="11052313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Bell MT" panose="02020503060305020303" pitchFamily="18" charset="0"/>
              </a:rPr>
              <a:t>What is an Image?</a:t>
            </a:r>
            <a:endParaRPr sz="3600" dirty="0">
              <a:solidFill>
                <a:srgbClr val="FFFFFF"/>
              </a:solidFill>
              <a:latin typeface="Bell MT" panose="020205030603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65C3C-07F3-0CEC-C07B-D9465A05C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16" y="909129"/>
            <a:ext cx="9123884" cy="524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97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EDB6EC-BB1E-58D1-1BD3-54875E0EC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13" y="894696"/>
            <a:ext cx="11467865" cy="5016247"/>
          </a:xfrm>
          <a:prstGeom prst="rect">
            <a:avLst/>
          </a:prstGeom>
        </p:spPr>
      </p:pic>
      <p:sp>
        <p:nvSpPr>
          <p:cNvPr id="5" name="Google Shape;56;p13">
            <a:extLst>
              <a:ext uri="{FF2B5EF4-FFF2-40B4-BE49-F238E27FC236}">
                <a16:creationId xmlns:a16="http://schemas.microsoft.com/office/drawing/2014/main" id="{723704F8-296F-1898-820E-C48831966F68}"/>
              </a:ext>
            </a:extLst>
          </p:cNvPr>
          <p:cNvSpPr txBox="1"/>
          <p:nvPr/>
        </p:nvSpPr>
        <p:spPr>
          <a:xfrm>
            <a:off x="406901" y="-44683"/>
            <a:ext cx="11052313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Bell MT" panose="02020503060305020303" pitchFamily="18" charset="0"/>
              </a:rPr>
              <a:t>What is an Image?</a:t>
            </a:r>
            <a:endParaRPr sz="3600" dirty="0">
              <a:solidFill>
                <a:srgbClr val="FFFFFF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084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C9626B-675C-D645-9BF8-05DCF36F6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84" y="1143403"/>
            <a:ext cx="11191288" cy="4571194"/>
          </a:xfrm>
          <a:prstGeom prst="rect">
            <a:avLst/>
          </a:prstGeom>
        </p:spPr>
      </p:pic>
      <p:sp>
        <p:nvSpPr>
          <p:cNvPr id="5" name="Google Shape;56;p13">
            <a:extLst>
              <a:ext uri="{FF2B5EF4-FFF2-40B4-BE49-F238E27FC236}">
                <a16:creationId xmlns:a16="http://schemas.microsoft.com/office/drawing/2014/main" id="{63886037-0251-BAC6-A241-9857A32EF91B}"/>
              </a:ext>
            </a:extLst>
          </p:cNvPr>
          <p:cNvSpPr txBox="1"/>
          <p:nvPr/>
        </p:nvSpPr>
        <p:spPr>
          <a:xfrm>
            <a:off x="406901" y="-44683"/>
            <a:ext cx="11052313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Bell MT" panose="02020503060305020303" pitchFamily="18" charset="0"/>
              </a:rPr>
              <a:t>What is an Image?</a:t>
            </a:r>
            <a:endParaRPr sz="3600" dirty="0">
              <a:solidFill>
                <a:srgbClr val="FFFFFF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519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3B6A0D-0E78-2BB0-993B-034B5CC0AAF7}"/>
              </a:ext>
            </a:extLst>
          </p:cNvPr>
          <p:cNvSpPr txBox="1"/>
          <p:nvPr/>
        </p:nvSpPr>
        <p:spPr>
          <a:xfrm>
            <a:off x="152400" y="620154"/>
            <a:ext cx="11734800" cy="510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– a discipline in which both the input and output of a process are images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limiting and artificial boundary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under this definition computing average intensity of an image (output is a number) 	   	  cannot be considered as image processing task.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ultimate goal is to use computers to emulate human vision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including learning and being able to make inferences and take actions based on visual inputs.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 cut boundaries in the continuum from image processing at one end to computer vision at the other end.</a:t>
            </a:r>
          </a:p>
        </p:txBody>
      </p:sp>
    </p:spTree>
    <p:extLst>
      <p:ext uri="{BB962C8B-B14F-4D97-AF65-F5344CB8AC3E}">
        <p14:creationId xmlns:p14="http://schemas.microsoft.com/office/powerpoint/2010/main" val="3655965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BA1166-E5B0-B856-EED6-19FC684E5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Low-level Processes: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Primitive operations such as image pre-processing to reduce noise, contrast enhancement, image sharpening etc.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inputs and outputs are images.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Mid-level Processes: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Segmentation, description of segments and classification of segments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are images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are attributes extracted from input images (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Edges, contours, identity of individual objects).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Processes: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sense of an ensemble of recognized objects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cognitive functions normally associated with vision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4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6;p13">
            <a:extLst>
              <a:ext uri="{FF2B5EF4-FFF2-40B4-BE49-F238E27FC236}">
                <a16:creationId xmlns:a16="http://schemas.microsoft.com/office/drawing/2014/main" id="{A22A3FA3-ACBA-7F31-796E-95FEB46E3AA0}"/>
              </a:ext>
            </a:extLst>
          </p:cNvPr>
          <p:cNvSpPr txBox="1"/>
          <p:nvPr/>
        </p:nvSpPr>
        <p:spPr>
          <a:xfrm>
            <a:off x="406901" y="-44683"/>
            <a:ext cx="11052313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Bell MT" panose="02020503060305020303" pitchFamily="18" charset="0"/>
              </a:rPr>
              <a:t>Fundamentals of Image Formation</a:t>
            </a:r>
            <a:endParaRPr sz="3600" dirty="0">
              <a:solidFill>
                <a:srgbClr val="FFFFFF"/>
              </a:solidFill>
              <a:latin typeface="Bell MT" panose="020205030603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AB0C4-FAC2-5D14-419F-44C75F1BC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74" y="879388"/>
            <a:ext cx="8603285" cy="5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22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6205AF-12D1-12F0-0B31-D1584080E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3" y="767617"/>
            <a:ext cx="8451456" cy="548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48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F91F8C-A421-B58A-B2D5-1A0330DBD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55" y="907980"/>
            <a:ext cx="8725108" cy="524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9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4424A9-AECB-BCD8-AD73-66EBDD394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89" y="1125771"/>
            <a:ext cx="7780689" cy="4796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9FC4D3-2571-086B-13EE-10A18266F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082" y="1767546"/>
            <a:ext cx="4634679" cy="125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4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3946</TotalTime>
  <Words>232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Bell MT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Shikha Marwaha</dc:creator>
  <cp:lastModifiedBy>Priya G L</cp:lastModifiedBy>
  <cp:revision>4</cp:revision>
  <dcterms:created xsi:type="dcterms:W3CDTF">2023-08-21T16:16:27Z</dcterms:created>
  <dcterms:modified xsi:type="dcterms:W3CDTF">2026-02-02T04:29:14Z</dcterms:modified>
</cp:coreProperties>
</file>